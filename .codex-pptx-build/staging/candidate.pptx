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d26e2b52c4bde" /><Relationship Type="http://schemas.openxmlformats.org/officeDocument/2006/relationships/extended-properties" Target="/docProps/app.xml" Id="R08b7fe0441634b3e" /><Relationship Type="http://schemas.openxmlformats.org/officeDocument/2006/relationships/officeDocument" Target="/ppt/presentation.xml" Id="R3d2eb9b486154d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4673634e174a12"/>
  </p:sldMasterIdLst>
  <p:notesMasterIdLst>
    <p:notesMasterId xmlns:r="http://schemas.openxmlformats.org/officeDocument/2006/relationships" r:id="R80be557410284d69"/>
  </p:notesMasterIdLst>
  <p:sldIdLst>
    <p:sldId xmlns:r="http://schemas.openxmlformats.org/officeDocument/2006/relationships" id="256" r:id="R675f06b6532248e1"/>
    <p:sldId xmlns:r="http://schemas.openxmlformats.org/officeDocument/2006/relationships" id="257" r:id="R01f3d798a3994b08"/>
    <p:sldId xmlns:r="http://schemas.openxmlformats.org/officeDocument/2006/relationships" id="258" r:id="R45125d9dd3824ca8"/>
    <p:sldId xmlns:r="http://schemas.openxmlformats.org/officeDocument/2006/relationships" id="259" r:id="R1c0abfbcf597401b"/>
    <p:sldId xmlns:r="http://schemas.openxmlformats.org/officeDocument/2006/relationships" id="260" r:id="R496584cfa1f9449d"/>
    <p:sldId xmlns:r="http://schemas.openxmlformats.org/officeDocument/2006/relationships" id="261" r:id="R1420ef9403704d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62b41de5b448ca" /><Relationship Type="http://schemas.openxmlformats.org/officeDocument/2006/relationships/slideMaster" Target="/ppt/slideMasters/slideMaster1.xml" Id="Rc94673634e174a12" /><Relationship Type="http://schemas.openxmlformats.org/officeDocument/2006/relationships/notesMaster" Target="/ppt/notesMasters/notesMaster1.xml" Id="R80be557410284d69" /><Relationship Type="http://schemas.openxmlformats.org/officeDocument/2006/relationships/presProps" Target="/ppt/presProps.xml" Id="Rdbfa0ff2adc844a6" /><Relationship Type="http://schemas.openxmlformats.org/officeDocument/2006/relationships/tableStyles" Target="/ppt/tableStyles.xml" Id="R8d69e29b58814f7b" /><Relationship Type="http://schemas.openxmlformats.org/officeDocument/2006/relationships/slide" Target="/ppt/slides/slide1.xml" Id="R675f06b6532248e1" /><Relationship Type="http://schemas.openxmlformats.org/officeDocument/2006/relationships/slide" Target="/ppt/slides/slide2.xml" Id="R01f3d798a3994b08" /><Relationship Type="http://schemas.openxmlformats.org/officeDocument/2006/relationships/slide" Target="/ppt/slides/slide3.xml" Id="R45125d9dd3824ca8" /><Relationship Type="http://schemas.openxmlformats.org/officeDocument/2006/relationships/slide" Target="/ppt/slides/slide4.xml" Id="R1c0abfbcf597401b" /><Relationship Type="http://schemas.openxmlformats.org/officeDocument/2006/relationships/slide" Target="/ppt/slides/slide5.xml" Id="R496584cfa1f9449d" /><Relationship Type="http://schemas.openxmlformats.org/officeDocument/2006/relationships/slide" Target="/ppt/slides/slide6.xml" Id="R1420ef940370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425b2afce44f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68d66f80124fff" /><Relationship Type="http://schemas.openxmlformats.org/officeDocument/2006/relationships/notesMaster" Target="/ppt/notesMasters/notesMaster1.xml" Id="R63e3b3bc8f1b45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64379040ad4239" /><Relationship Type="http://schemas.openxmlformats.org/officeDocument/2006/relationships/notesMaster" Target="/ppt/notesMasters/notesMaster1.xml" Id="R872d526c3f2f4d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de46909fa94816" /><Relationship Type="http://schemas.openxmlformats.org/officeDocument/2006/relationships/notesMaster" Target="/ppt/notesMasters/notesMaster1.xml" Id="R9baa176242164e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4dab33fe434cc0" /><Relationship Type="http://schemas.openxmlformats.org/officeDocument/2006/relationships/notesMaster" Target="/ppt/notesMasters/notesMaster1.xml" Id="R3c48b9d9d4c2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7a7c8809194ed0" /><Relationship Type="http://schemas.openxmlformats.org/officeDocument/2006/relationships/notesMaster" Target="/ppt/notesMasters/notesMaster1.xml" Id="Rca854fb524e14a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4800e86f4641bc" /><Relationship Type="http://schemas.openxmlformats.org/officeDocument/2006/relationships/notesMaster" Target="/ppt/notesMasters/notesMaster1.xml" Id="R2b8e3ec7132c41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baseline: C:/Users/jason/Documents/cource/y4sem1/fyp/TTA for medical image segmentation/TTA for medical image segmentation/Benchmark for Test Time Adaptation.pdf, Table 9, PDF p. 28.</a:t>
            </a:r>
          </a:p>
          <a:p xmlns:a="http://schemas.openxmlformats.org/drawingml/2006/main">
            <a:r>
              <a:t>Local metrics: C:/Users/jason/Documents/cource/y4sem1/fyp/test_v2/base_model/benchmark_cxr_base_no_source_aug/summary.json.</a:t>
            </a:r>
          </a:p>
          <a:p xmlns:a="http://schemas.openxmlformats.org/drawingml/2006/main">
            <a:r>
              <a:t>Local minus paper = 0.9395699204 - 0.9093 = 0.0302699204, rounded to 0.0303 (3.03 pp). Descriptive only; not a significance test or superiority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dataset protocol: C:/Users/jason/Documents/cource/y4sem1/fyp/TTA for medical image segmentation/TTA for medical image segmentation/Benchmark for Test Time Adaptation.pdf, Section 3.1.7, PDF pp. 15-16.</a:t>
            </a:r>
          </a:p>
          <a:p xmlns:a="http://schemas.openxmlformats.org/drawingml/2006/main">
            <a:r>
              <a:t>Paper UNet setup and source split: C:/Users/jason/Documents/cource/y4sem1/fyp/TTA for medical image segmentation/TTA for medical image segmentation/Benchmark for Test Time Adaptation.pdf, Table 2 and Section 3.2, PDF pp. 18-19.</a:t>
            </a:r>
          </a:p>
          <a:p xmlns:a="http://schemas.openxmlformats.org/drawingml/2006/main">
            <a:r>
              <a:t>Local source coverage and split: C:/Users/jason/Documents/cource/y4sem1/fyp/test_v2/base_model/benchmark_cxr_base_no_source_aug/protocol_audit.json.</a:t>
            </a:r>
          </a:p>
          <a:p xmlns:a="http://schemas.openxmlformats.org/drawingml/2006/main">
            <a:r>
              <a:t>The paper reports 662 SZ-CXR images with lung-field masks and 138 Montgomery targets. The local run had 566 exact source image-mask pairs and excluded 96 unpaired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Dice baseline: C:/Users/jason/Documents/cource/y4sem1/fyp/TTA for medical image segmentation/TTA for medical image segmentation/Benchmark for Test Time Adaptation.pdf, Table 9, PDF p. 28.</a:t>
            </a:r>
          </a:p>
          <a:p xmlns:a="http://schemas.openxmlformats.org/drawingml/2006/main">
            <a:r>
              <a:t>Local Dice mean and population SD: C:/Users/jason/Documents/cource/y4sem1/fyp/test_v2/base_model/benchmark_cxr_base_no_source_aug/summary.json.</a:t>
            </a:r>
          </a:p>
          <a:p xmlns:a="http://schemas.openxmlformats.org/drawingml/2006/main">
            <a:r>
              <a:t>Whiskers show mean +/- one reported SD, clipped to the displayed 0.80-1.00 axis. They are descriptive distributions, not confidence intervals.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Table 9 metrics: C:/Users/jason/Documents/cource/y4sem1/fyp/TTA for medical image segmentation/TTA for medical image segmentation/Benchmark for Test Time Adaptation.pdf, PDF p. 28.</a:t>
            </a:r>
          </a:p>
          <a:p xmlns:a="http://schemas.openxmlformats.org/drawingml/2006/main">
            <a:r>
              <a:t>Local target metrics: C:/Users/jason/Documents/cource/y4sem1/fyp/test_v2/base_model/benchmark_cxr_base_no_source_aug/summary.json.</a:t>
            </a:r>
          </a:p>
          <a:p xmlns:a="http://schemas.openxmlformats.org/drawingml/2006/main">
            <a:r>
              <a:t>Local HD95 policy: C:/Users/jason/Documents/cource/y4sem1/fyp/test_v2/base_model/benchmark_cxr_base_no_source_aug/protocol_audit.json.</a:t>
            </a:r>
          </a:p>
          <a:p xmlns:a="http://schemas.openxmlformats.org/drawingml/2006/main">
            <a:r>
              <a:t>Local-minus-paper differences are arithmetic on displayed rounded means, not paired improvements or statistical evidence. Local HD95 is reported in resized 256x256 pixel units using the audited all-foreground nearest-distance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dataset protocol: C:/Users/jason/Documents/cource/y4sem1/fyp/TTA for medical image segmentation/TTA for medical image segmentation/Benchmark for Test Time Adaptation.pdf, Section 3.1.7, PDF pp. 15-16.</a:t>
            </a:r>
          </a:p>
          <a:p xmlns:a="http://schemas.openxmlformats.org/drawingml/2006/main">
            <a:r>
              <a:t>Paper backbone and implementation: C:/Users/jason/Documents/cource/y4sem1/fyp/TTA for medical image segmentation/TTA for medical image segmentation/Benchmark for Test Time Adaptation.pdf, Table 2 and Section 3.2, PDF pp. 18-19.</a:t>
            </a:r>
          </a:p>
          <a:p xmlns:a="http://schemas.openxmlformats.org/drawingml/2006/main">
            <a:r>
              <a:t>Local source coverage, recipe, and metric policy: C:/Users/jason/Documents/cource/y4sem1/fyp/test_v2/base_model/benchmark_cxr_base_no_source_aug/protocol_audit.json.</a:t>
            </a:r>
          </a:p>
          <a:p xmlns:a="http://schemas.openxmlformats.org/drawingml/2006/main">
            <a:r>
              <a:t>Local single-seed execution: C:/Users/jason/Documents/cource/y4sem1/fyp/test_v2/base_model/benchmark_cxr_base_no_source_aug/execution.log and C:/Users/jason/Documents/cource/y4sem1/fyp/test_v2/base_model/benchmark_cxr_base_no_source_aug/summary.json.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Paper: C:/Users/jason/Documents/cource/y4sem1/fyp/TTA for medical image segmentation/TTA for medical image segmentation/Benchmark for Test Time Adaptation.pdf; Section 3.1.7 (PDF pp. 15-16), Table 2 (p. 18), Table 9 (p. 28).</a:t>
            </a:r>
          </a:p>
          <a:p xmlns:a="http://schemas.openxmlformats.org/drawingml/2006/main">
            <a:r>
              <a:t>Local target metrics/checkpoint: C:/Users/jason/Documents/cource/y4sem1/fyp/test_v2/base_model/benchmark_cxr_base_no_source_aug/summary.json.</a:t>
            </a:r>
          </a:p>
          <a:p xmlns:a="http://schemas.openxmlformats.org/drawingml/2006/main">
            <a:r>
              <a:t>Local protocol/source coverage: C:/Users/jason/Documents/cource/y4sem1/fyp/test_v2/base_model/benchmark_cxr_base_no_source_aug/protocol_audit.json.</a:t>
            </a:r>
          </a:p>
          <a:p xmlns:a="http://schemas.openxmlformats.org/drawingml/2006/main">
            <a:r>
              <a:t>Local execution log: C:/Users/jason/Documents/cource/y4sem1/fyp/test_v2/base_model/benchmark_cxr_base_no_source_aug/execution.log.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f7829cffc41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3ea89cdab49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77f10fee64a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3ca4bbafc48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6a9c3dbc546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7cea4a3c349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56332A-F589-428C-9B2E-AAA258A5F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54832D-98D0-4FE9-A140-23B67EC1C3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A50A30-F0C7-4A58-A83A-04B587A6A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5DC3F6-D02B-4C4C-98D2-D4F19BB0B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358A3C-3A60-45CC-9365-D36B4BB714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38265C-99A1-4EFB-8729-46CC44954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1EA2C2-321B-48E9-BC36-EDA0610839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1A0BB5-9359-4EE6-BEB3-8D1586CD83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86A30D-50F2-46A9-9C83-75E41E9DBF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F21522-A925-4CA7-A6DA-0009CFFB16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6af3782134aee" /><Relationship Type="http://schemas.openxmlformats.org/officeDocument/2006/relationships/slideLayout" Target="/ppt/slideLayouts/slideLayout1.xml" Id="Rf101aa37e1794b08" /><Relationship Type="http://schemas.openxmlformats.org/officeDocument/2006/relationships/slideLayout" Target="/ppt/slideLayouts/slideLayout2.xml" Id="R568b731957c34259" /><Relationship Type="http://schemas.openxmlformats.org/officeDocument/2006/relationships/slideLayout" Target="/ppt/slideLayouts/slideLayout3.xml" Id="R9788b65a8f6b4f4e" /><Relationship Type="http://schemas.openxmlformats.org/officeDocument/2006/relationships/slideLayout" Target="/ppt/slideLayouts/slideLayout4.xml" Id="Re2ffd4ea1a6349ca" /><Relationship Type="http://schemas.openxmlformats.org/officeDocument/2006/relationships/slideLayout" Target="/ppt/slideLayouts/slideLayout5.xml" Id="R9b5cec5c22f84063" /><Relationship Type="http://schemas.openxmlformats.org/officeDocument/2006/relationships/slideLayout" Target="/ppt/slideLayouts/slideLayout6.xml" Id="R6521ef1f9eaa4a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01aa37e1794b08"/>
    <p:sldLayoutId xmlns:r="http://schemas.openxmlformats.org/officeDocument/2006/relationships" id="2147483650" r:id="R568b731957c34259"/>
    <p:sldLayoutId xmlns:r="http://schemas.openxmlformats.org/officeDocument/2006/relationships" id="2147483651" r:id="R9788b65a8f6b4f4e"/>
    <p:sldLayoutId xmlns:r="http://schemas.openxmlformats.org/officeDocument/2006/relationships" id="2147483652" r:id="Re2ffd4ea1a6349ca"/>
    <p:sldLayoutId xmlns:r="http://schemas.openxmlformats.org/officeDocument/2006/relationships" id="2147483653" r:id="R9b5cec5c22f84063"/>
    <p:sldLayoutId xmlns:r="http://schemas.openxmlformats.org/officeDocument/2006/relationships" id="2147483654" r:id="R6521ef1f9eaa4a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39bf1fbb0421a" /><Relationship Type="http://schemas.openxmlformats.org/officeDocument/2006/relationships/notesSlide" Target="/ppt/notesSlides/notesSlide1.xml" Id="Rf023cc291f9a48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ce4893b48446b" /><Relationship Type="http://schemas.openxmlformats.org/officeDocument/2006/relationships/notesSlide" Target="/ppt/notesSlides/notesSlide2.xml" Id="Rc5ae4b2f991544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acde798b748fd" /><Relationship Type="http://schemas.openxmlformats.org/officeDocument/2006/relationships/notesSlide" Target="/ppt/notesSlides/notesSlide3.xml" Id="Rf736a35ae3234b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eb6740b6544d2" /><Relationship Type="http://schemas.openxmlformats.org/officeDocument/2006/relationships/notesSlide" Target="/ppt/notesSlides/notesSlide4.xml" Id="R7fed55183a3d43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5f8bf88c44f78" /><Relationship Type="http://schemas.openxmlformats.org/officeDocument/2006/relationships/notesSlide" Target="/ppt/notesSlides/notesSlide5.xml" Id="R303244403ce64c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e23bf7e9145d6" /><Relationship Type="http://schemas.openxmlformats.org/officeDocument/2006/relationships/notesSlide" Target="/ppt/notesSlides/notesSlide6.xml" Id="R8f4678110b6c4e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1583F-85E6-40E6-AA9B-A300442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B13EA-E1CD-43DE-A8F2-484E8CD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A9735-E772-4A24-8D09-74D37804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A8C7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8C7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8C7C0"/>
                </a:solidFill>
                <a:latin typeface="Arial"/>
                <a:ea typeface="Arial"/>
                <a:cs typeface="Arial"/>
              </a:rPr>
              <a:t>MEDSEG-TTA  /  CHEST X-RAY LUNG SEGMENTATION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25A05-47B4-4492-BCDD-410CF9B6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000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CXR base-model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D4A37-DAE0-4963-9559-44DDEF9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D1DB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1DBD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BD9"/>
                </a:solidFill>
                <a:latin typeface="Arial"/>
                <a:ea typeface="Arial"/>
                <a:cs typeface="Arial"/>
              </a:rPr>
              <a:t>Local source-only run compared with the paper's no-TTA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9BD5B-E1CF-4484-BEF0-53F3657A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F1B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1B7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B7A8"/>
                </a:solidFill>
                <a:latin typeface="Arial"/>
                <a:ea typeface="Arial"/>
                <a:cs typeface="Arial"/>
              </a:rPr>
              <a:t>PAPER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1A8AA-6047-4F78-B01F-A9625E80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8DD0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DD0C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D0C1"/>
                </a:solidFill>
                <a:latin typeface="Arial"/>
                <a:ea typeface="Arial"/>
                <a:cs typeface="Arial"/>
              </a:rPr>
              <a:t>LOCAL BASE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CBE48-9FCA-4A49-8B68-561597E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0.9093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4F13C-3BA7-4621-A6AD-66B79AC9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671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0.9396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C47F5-678B-484E-BD79-51C5052F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C1CE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1CE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1CECC"/>
                </a:solidFill>
                <a:latin typeface="Arial"/>
                <a:ea typeface="Arial"/>
                <a:cs typeface="Arial"/>
              </a:rPr>
              <a:t>Dice mean | 138 Montgomery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07F4B-2686-4D8F-AF87-2FB1AA2D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58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C1CE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1CEC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1CECC"/>
                </a:solidFill>
                <a:latin typeface="Arial"/>
                <a:ea typeface="Arial"/>
                <a:cs typeface="Arial"/>
              </a:rPr>
              <a:t>Dice mean | 138 Montgomery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D14C5-C3E4-402D-AF7B-904C13C7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428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2D3FB-4EC2-4B01-A876-6E64E234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389763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2AEE8-D772-4FC5-9058-1079F048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43500"/>
            <a:ext cx="428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5EDAA-E72F-445E-A764-07488024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43500"/>
            <a:ext cx="402717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53F32-8A0D-48E8-9DC7-0DE37C82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95350"/>
            <a:ext cx="1962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CE4A1-0548-4712-AB0D-870D0583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9FE0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9FE0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FE0D1"/>
                </a:solidFill>
                <a:latin typeface="Arial"/>
                <a:ea typeface="Arial"/>
                <a:cs typeface="Arial"/>
              </a:rPr>
              <a:t>+0.0303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BAE77-0BB5-48F2-B47C-B3A781D9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573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D1DB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D1DBD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1DBD9"/>
                </a:solidFill>
                <a:latin typeface="Arial"/>
                <a:ea typeface="Arial"/>
                <a:cs typeface="Arial"/>
              </a:rPr>
              <a:t>+3.03 percentage points</a:t>
            </a:r>
          </a:p>
          <a:p xmlns:a="http://schemas.openxmlformats.org/drawingml/2006/main">
            <a:pPr algn="ctr">
              <a:defRPr sz="975" b="0">
                <a:solidFill>
                  <a:srgbClr val="D1DBD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1DBD9"/>
                </a:solidFill>
                <a:latin typeface="Arial"/>
                <a:ea typeface="Arial"/>
                <a:cs typeface="Arial"/>
              </a:rPr>
              <a:t>descriptive difference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008D7-6319-4A9E-8447-8291F8AF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D1DB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1DB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1DBD9"/>
                </a:solidFill>
                <a:latin typeface="Arial"/>
                <a:ea typeface="Arial"/>
                <a:cs typeface="Arial"/>
              </a:rPr>
              <a:t>Same target cohort size; source-mask coverage and full training equivalence differ.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338E1-DC57-4E59-BBC3-8912E98A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BFB05-0726-4095-8525-B31ED05E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AFC0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AFC0C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0C0"/>
                </a:solidFill>
                <a:latin typeface="Arial"/>
                <a:ea typeface="Arial"/>
                <a:cs typeface="Arial"/>
              </a:rPr>
              <a:t>CXR BASELINE COMPARISON  |  SOURCE-ONLY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E4D06-F981-49F6-9D24-26325F06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AFC0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AFC0C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C0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8651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9FB823-D5F0-4D85-9662-76411B55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0AD33-97C5-4BAA-A927-D920EDFA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Target benchmark aligned; source coverage differs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EE566-558E-4FE7-8E74-E90A3608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Paper values are from the specified MedSeg-TTA PDF; local values are from the audited source-only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2B55A-258A-4DDD-B12C-582442F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69308-265E-47CC-9582-07885DB6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ITEM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D95C6-DD67-448C-BFDD-65E6542E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76400"/>
            <a:ext cx="3771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39F15-03B0-4193-BFDA-E2DA30D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7640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31B0A-4ADE-4E88-BCDD-57356D1F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AC20C-D7B1-4832-BD65-94E383B3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86D"/>
                </a:solidFill>
                <a:latin typeface="Arial"/>
                <a:ea typeface="Arial"/>
                <a:cs typeface="Arial"/>
              </a:rPr>
              <a:t>Domain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7ED0F-312B-429A-A245-632FDC19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SZ-CXR source -&gt; Montgomery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C504D-D40C-4400-B284-95B4A26D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95500"/>
            <a:ext cx="426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SZ-CXR source -&gt; Montgomery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AD535-C8BD-4784-ADB9-2DB5E1E3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0CCF7-5843-418E-9FAD-9773B293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86D"/>
                </a:solidFill>
                <a:latin typeface="Arial"/>
                <a:ea typeface="Arial"/>
                <a:cs typeface="Arial"/>
              </a:rPr>
              <a:t>Target cohort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C8B38-9384-4983-96BD-6F70E6AD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86050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138 posteroanterior chest radiographs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0AC1A-BB86-4CB3-AE55-F675FF4F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426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Same 138 Montgomery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2195F-BF95-4078-8D31-C9CC26D6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BF299-4B6C-4316-A5C1-51FA2D52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F62C1-6B19-443D-96F2-9EC6100B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86D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7EF63-F4CF-4A5B-9ADA-1F9BE973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76600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UNet2D; 256 x 256; 1 input / 2 output; 5 blocks; C0=32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15F9C-4022-4F6E-847D-E814C39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426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Same listed UNet2D configuration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CC2B8-DFA5-48EC-A2F5-72BDB204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07B03-5086-4F5F-BDF3-F36E2C35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86D"/>
                </a:solidFill>
                <a:latin typeface="Arial"/>
                <a:ea typeface="Arial"/>
                <a:cs typeface="Arial"/>
              </a:rPr>
              <a:t>Source labels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FCEF4-4057-41F1-BD86-A4526033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67150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662 SZ-CXR images with lung masks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950D6-E016-43A2-91E2-7CA9A73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67150"/>
            <a:ext cx="426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566 exact pairs; 96 unpaired images excluded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AF36A3-7AF3-43C0-91A8-A0994092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86E6E9-3DA3-4169-AB91-254FFFF9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E99538-569E-4093-B4CE-ABA8DE5B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86D"/>
                </a:solidFill>
                <a:latin typeface="Arial"/>
                <a:ea typeface="Arial"/>
                <a:cs typeface="Arial"/>
              </a:rPr>
              <a:t>Source split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42083-9ED6-4C8B-BA88-BE152305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57700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8:2 source train / validation 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7F7788-38F5-4896-9819-5F72BD0F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57700"/>
            <a:ext cx="426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453 train / 113 validation from 566 pairs; seed 42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53BF6E-7E16-48A0-BC09-7F85F5AB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0A074-3F1C-4749-8AAD-33E9864C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86D"/>
                </a:solidFill>
                <a:latin typeface="Arial"/>
                <a:ea typeface="Arial"/>
                <a:cs typeface="Arial"/>
              </a:rPr>
              <a:t>Base condition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447C6-92BC-4853-8193-4B4BB6FA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48250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Target-domain baseline without TTA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BE151-7B18-4E30-B2AF-5B8FC48B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426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Source-only; no target-time parameter update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7B16AD-8CFC-4DBA-A74D-C90FDF6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01B25F-CBD3-4B01-A77F-DFF9779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9946FF-2081-4A2E-937F-D911E2D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Both scores are measured on the 138-case Montgomery target set before TTA.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3DF60D-1865-410A-AA40-8B23C7EF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F25B15-3517-423E-BE98-19980B40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CXR BASELINE COMPARISON  |  SOURCE-ONLY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A021B8-AA1E-44C1-A350-57776E7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4929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0EA088-EC0F-4D5B-82BD-89851C5F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12388-EB87-4D07-9729-07905B77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Local mean Dice is 3.03 points higher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CB5B1-2A93-42BA-9395-9DA77637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Means are over the same 138-case Montgomery cohort; whiskers show mean +/- 1 reported SD.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A7D3F-C595-4690-8884-B86558FC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38275"/>
            <a:ext cx="31527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7FE0B-3E9F-4E31-BAF7-B0D0EC5C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1447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+0.0303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FA524-9866-4D6B-BD5A-6F56C3FA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33525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+3.03 pp</a:t>
            </a:r>
          </a:p>
          <a:p xmlns:a="http://schemas.openxmlformats.org/drawingml/2006/main">
            <a:pPr algn="l">
              <a:defRPr sz="11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local minus 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9005B-B602-4BE4-9EF5-67008D56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289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B4869-5224-494A-B62A-463E31B8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86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0.80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26FD5-22CE-4BC0-8683-A0FFA846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6289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143C6-F83D-46E2-B801-393D88B3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086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0.85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C0D56-31F9-42F3-9871-6544D98F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93426-974B-4964-A9D5-35BF5451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86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0.90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F76CF-B9C8-40E4-BFD9-BBD88709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289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EABCE-0934-40DB-8F31-BC62F800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086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0.95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31467-7031-4A86-825A-40B86BAE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E36B0-590E-4193-865F-7CF91FE9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86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52A7C-5860-430E-A141-8DD04E10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5F49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A9E53-C0E9-4D05-BC47-427EA2CC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15" y="3305175"/>
            <a:ext cx="4951667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21663-0861-4111-AA07-0E970A5E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15" y="3209925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0DE61-B548-4486-9990-9919B100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8832" y="3209925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B744B-24C7-4FCE-BD68-EAC4E677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799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F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1B43A-6958-40F8-89B0-8188F7D9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5F49"/>
                </a:solidFill>
                <a:latin typeface="Arial"/>
                <a:ea typeface="Arial"/>
                <a:cs typeface="Arial"/>
              </a:rPr>
              <a:t>0.9093 +/- 0.0695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E6F7C-38F9-4A0C-9356-83DA3F5B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744B29-CC05-4DC6-BC26-68C762B3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238" y="4257675"/>
            <a:ext cx="3830261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812DF-FF12-4F14-97FE-A94ACAB7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238" y="4162425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6BA55-6693-4887-9ED4-EFAB43D4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6450" y="4162425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F1C98-124C-4AD4-9003-DBC7A289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19" y="4191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B43515-2580-494E-835C-DD3C038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957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0.9396 +/- 0.0538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D48BB-9D85-4BB9-9C73-5C2EE114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10150"/>
            <a:ext cx="712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0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62CC39-8DA8-4154-91D5-EDA25C66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320BF-9E17-4B36-830D-8E523F7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C7CBF4-7D32-4640-977C-6A8EA09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62927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The local point estimate is higher; overlapping SD ranges are not a significance test.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188031-C9E3-4969-B352-DCA2C1F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8DFFB6-1792-49E7-9D70-D904B25A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CXR BASELINE COMPARISON  |  SOURCE-ONLY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5A215E-DA6F-4A61-99DB-A00C40FF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39474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C11E41-6D07-4E14-8B07-7CA7A134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F7B63-8EE3-4618-8EF3-7BC31065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Other overlap metrics are also higher locally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B7301-14F1-4801-819C-51311742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Mean +/- SD across 138 target cases. HD95 is listed for context, not ranked across implementations.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67544-6763-445A-BCFB-AF7567B6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3AD5F-1D7B-4D19-99AF-B90B55C8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81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45275-5057-4E2E-B964-E6513261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811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07902-67FC-4D54-8FF8-1937D39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26F7C-E457-4D3A-B2A9-61BC4248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81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-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4186B-14DB-4CC4-8F68-4A713ABA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E2529-0D3A-40D3-A073-03E8BAB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Dice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29C39-5C9F-4346-A50F-9F7CD73F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0.9093 +/- 0.0695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7D91B-4227-4EEE-BD74-11D473A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0.9396 +/- 0.0538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31188-7D07-4D78-9125-300667EC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+0.0303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17C3C-AF20-4A6D-A9A0-EABE8C53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7E8C7-9889-4DAD-90AC-DC9C4A89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Jaccard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1A88F-F603-41A9-BEEA-D3CA32D8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0.8414 +/- 0.1038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93B9B-7F3D-476F-97BE-F4E3FA53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8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0.8903 +/- 0.0855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2C17D-17D5-4E39-A5C0-2FB131E4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908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+0.0489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49E0D-58F3-43D1-B37F-164D2352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13137-28DE-4438-AF90-09D24AF8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61672-33FA-4AEC-971E-72D6C244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Sensitivity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D7389-25F4-4D95-BC43-2CE919B6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0.8534 +/- 0.1059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9AAC2-BB09-4112-8481-B2A53401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0.8971 +/- 0.0843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40769-CA07-496A-92F9-9EC1179F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+0.0437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1A202-E279-4E30-80A0-046C7D46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11C49-D067-4D9B-8231-42661280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Precision (PPV)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39795-27F5-4DE3-B198-4009299B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528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0.9846 +/- 0.0272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BE41C-F8E7-4EBD-9106-237A5DBA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528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0.9920 +/- 0.0265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C4B7D-4B72-44D1-AEE7-D4848772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+0.0074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13383-B89E-40D1-B125-CEE6AB97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44A454-6205-409C-B036-A11CDA78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3C3DA3-7287-468B-A8EE-099738EF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HD95 (pixels)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394BDF-48BA-436F-B32A-15A441D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5.15 +/- 9.11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CF4DED-F07D-45ED-AE8F-317F1A17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33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2.6404 +/- 6.8043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F87079-D5EE-449B-B09A-8916E76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339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C18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C18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18A24"/>
                </a:solidFill>
                <a:latin typeface="Arial"/>
                <a:ea typeface="Arial"/>
                <a:cs typeface="Arial"/>
              </a:rPr>
              <a:t>Not compared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236DF0-F852-49A9-8FE7-DA21BCE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F64AA8-BE8D-4267-A1A3-86FB1A58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679A1C-666B-4B59-BAA2-BF1EF18B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C18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18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18A24"/>
                </a:solidFill>
                <a:latin typeface="Arial"/>
                <a:ea typeface="Arial"/>
                <a:cs typeface="Arial"/>
              </a:rPr>
              <a:t>HD95 is implementation-sensitive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03D8EF-9693-4434-8F15-37B1D5D1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Local audit uses an all-foreground-pixel nearest-distance statistic in resized pixel units. Metric equivalence with the paper has not been established.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CE19D6-0781-4634-AE48-CF5DD67D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CAD8BC-074F-4697-A0B0-FEDC867A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CXR BASELINE COMPARISON  |  SOURCE-ONLY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D3BF11-795B-4981-8243-1E23E5CE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9644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5097D-FB12-43A4-9E32-8A7BC37E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99D73-EC9A-4215-AD7B-2E7D55A2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The score gap cannot be assigned to model quality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AD107-ED6E-4D3C-8834-A5AAE297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The task is closely matched, but source training evidence is not identical.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A0803-BBFD-49A6-9ABA-3692CA51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4ABB5-1246-46EC-870A-49363BB5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MATCHED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A7AF7-1F8F-47E0-A4DA-717835A2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Target task and model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6B63E-A043-4410-887B-BFA262B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SZ-CXR -&gt; Montgomery; 138 targets; source-only inference; same listed five-block UNet2D width and I/O channels.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02A46-0E4B-47F4-B5F4-EA547222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9301C-56DE-40C8-8167-A26815A0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0E17A-A60D-432B-91B7-3D603F6F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5F49"/>
                </a:solidFill>
                <a:latin typeface="Arial"/>
                <a:ea typeface="Arial"/>
                <a:cs typeface="Arial"/>
              </a:rPr>
              <a:t>DIFFERS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34C53-D1AA-4A1C-9D81-EDB16C42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Source supervision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988CA-4218-411D-81B6-1611E54E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38425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Paper reports 662 source images with masks. Local training used 566 exact pairs and excluded 96 unpaired images.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E5EDC-3485-44BB-AA74-02E42E6C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38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5F78-DD9E-4EFD-94E1-C4BE88A5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44A07-AFD4-449B-8E52-38215F1E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C18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C18A2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18A24"/>
                </a:solidFill>
                <a:latin typeface="Arial"/>
                <a:ea typeface="Arial"/>
                <a:cs typeface="Arial"/>
              </a:rPr>
              <a:t>NOT FULLY ALIGNED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81BB3-0A81-45EE-99D9-5A79584A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Training and preprocessing detail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89EB3-0E51-4389-B6E2-96A4359E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8140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Local run records z-score, no augmentation, Adam, batch 2, and one source seed. The paper main text does not fully specify every setting.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50AFF-9C5F-4559-BE45-45E71877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6A044-9923-42CC-B97B-6864B37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8D005-ADBD-4A36-95AF-E3228CF8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5F49"/>
                </a:solidFill>
                <a:latin typeface="Arial"/>
                <a:ea typeface="Arial"/>
                <a:cs typeface="Arial"/>
              </a:rPr>
              <a:t>NOT ESTABLISHED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D2840-1010-40F6-9844-C1782A7E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339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Metric and statistical equivalence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8C7ED-D071-4091-B78C-BE64A069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HD95 implementation equivalence is unverified. Local evidence is one seed; no matched per-case cross-paper test is available.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AE829-628A-4D85-8AA3-7E04875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244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299AF-B4D2-40CA-BC82-A2321817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9313F-C797-4530-9734-888A8E4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 +3.03 pp as a descriptive result, not proof of superiority or significance.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8E292-496A-4C39-9271-7C0EFE92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17009-EEB1-4A19-B070-DAB43624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CXR BASELINE COMPARISON  |  SOURCE-ONLY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4DB3D-D65B-498D-A4D1-49B9FBBC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8533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880D1-B108-4F41-BB36-DFB714B3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B73F1-589C-4EBB-8443-B326AA5D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B2A2F"/>
                </a:solidFill>
                <a:latin typeface="Arial"/>
                <a:ea typeface="Arial"/>
                <a:cs typeface="Arial"/>
              </a:rPr>
              <a:t>Baseline comparison: evidence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D2D3F-D8AE-475E-BF51-194A0BEE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A local reproduction milestone, with a clear boundary on what the numbers establish.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2C585-0114-4A9C-B4D7-5B51F67C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00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WHAT THE EVIDENCE SUPPORTS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4C388-3377-4C9A-A447-BA62807A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7A98F-0869-41A5-B429-665A9ACA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46672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The local model reaches 0.9396 mean Dice on all 138 Montgomery cases before TTA.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The paper's Table 9 baseline is 0.9093 mean Dice on 138 targets.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The +0.0303 gap is descriptive; source coverage and full protocol matching remain incomplete.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94848-86D0-4BDA-996A-CC88FFC5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531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85F4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5F49"/>
                </a:solidFill>
                <a:latin typeface="Arial"/>
                <a:ea typeface="Arial"/>
                <a:cs typeface="Arial"/>
              </a:rPr>
              <a:t>TO STRENGTHEN THE REPRODUCTION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D52FD-CC1B-42CB-846F-50055487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1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BFDE9-42E7-4152-B0C6-35C0570E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857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Recover or document the missing 96 source masks.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Lock source split, preprocessing, optimizer, and checkpoint selection to paper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Use one metric implementation and repeat across seeds before making comparative claims.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D9D7F-BBE8-46AD-A146-0F2901A8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E96DC-5D79-4CD0-AE8B-C9CDFBFB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SOURCE TRAIL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D95D2-199E-499D-99F0-6EC836A1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Yu et al., A Large Scale Benchmark for Test Time Adaptation Methods in Medical Image Segmentation.</a:t>
            </a:r>
          </a:p>
          <a:p xmlns:a="http://schemas.openxmlformats.org/drawingml/2006/main">
            <a:pPr algn="l">
              <a:defRPr sz="105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CXR source/target protocol: Section 3.1.7, pp. 15-16. UNet2D setup: Table 2, p. 18.</a:t>
            </a:r>
          </a:p>
          <a:p xmlns:a="http://schemas.openxmlformats.org/drawingml/2006/main">
            <a:pPr algn="l">
              <a:defRPr sz="1050" b="0">
                <a:solidFill>
                  <a:srgbClr val="1B2A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B2A2F"/>
                </a:solidFill>
                <a:latin typeface="Arial"/>
                <a:ea typeface="Arial"/>
                <a:cs typeface="Arial"/>
              </a:rPr>
              <a:t>CXR source-only baseline: Table 9, p. 28 (Dice 0.9093 +/- 0.0695).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F855A-7CA2-46C8-A453-23D0CA01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868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6D"/>
                </a:solidFill>
                <a:latin typeface="Arial"/>
                <a:ea typeface="Arial"/>
                <a:cs typeface="Arial"/>
              </a:rPr>
              <a:t>Local evidence: base_model/benchmark_cxr_base_no_source_aug/summary.json and protocol_audit.json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762BF-B201-4E50-9ED0-B4853AAE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12D31-B24E-45ED-8854-646BF69C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CXR BASELINE COMPARISON  |  SOURCE-ONLY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F246D-C11A-41EE-94A9-F2F3F3F7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484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829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90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05073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2026-10-10T09:31:39.3160000Z</dcterms:created>
  <dcterms:modified xsi:type="dcterms:W3CDTF">2026-10-10T09:31:39.3160000Z</dcterms:modified>
</coreProperties>
</file>